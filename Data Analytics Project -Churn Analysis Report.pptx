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y="6858000" cx="12192000"/>
  <p:notesSz cx="12192000" cy="6858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sldGuideLst>
    </p:ext>
    <p:ext uri="GoogleSlidesCustomDataVersion2">
      <go:slidesCustomData xmlns:go="http://customooxmlschemas.google.com/" r:id="rId14" roundtripDataSignature="AMtx7micf+DfBNvFuASNaczvQwZcvrEeC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D8AB216-FEF0-442D-9C2B-210B28296958}">
  <a:tblStyle styleId="{6D8AB216-FEF0-442D-9C2B-210B28296958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4" Type="http://customschemas.google.com/relationships/presentationmetadata" Target="meta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3f72a4e24a8_0_2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" name="Google Shape;49;g3f72a4e24a8_0_2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2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3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4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4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5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5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6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6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7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7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1.png"/><Relationship Id="rId6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3"/>
          <p:cNvSpPr txBox="1"/>
          <p:nvPr>
            <p:ph type="title"/>
          </p:nvPr>
        </p:nvSpPr>
        <p:spPr>
          <a:xfrm>
            <a:off x="916939" y="609676"/>
            <a:ext cx="6320155" cy="697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3"/>
          <p:cNvSpPr txBox="1"/>
          <p:nvPr>
            <p:ph idx="1" type="body"/>
          </p:nvPr>
        </p:nvSpPr>
        <p:spPr>
          <a:xfrm>
            <a:off x="793750" y="1504696"/>
            <a:ext cx="9672955" cy="45319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3"/>
          <p:cNvSpPr txBox="1"/>
          <p:nvPr>
            <p:ph idx="11" type="ftr"/>
          </p:nvPr>
        </p:nvSpPr>
        <p:spPr>
          <a:xfrm>
            <a:off x="4822697" y="6464680"/>
            <a:ext cx="2546350" cy="1784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3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3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>
  <p:cSld name="Blank">
    <p:bg>
      <p:bgPr>
        <a:solidFill>
          <a:schemeClr val="lt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4"/>
          <p:cNvSpPr/>
          <p:nvPr/>
        </p:nvSpPr>
        <p:spPr>
          <a:xfrm>
            <a:off x="0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D0D0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9" name="Google Shape;19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081904" y="270636"/>
            <a:ext cx="2028189" cy="188417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2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443353" cy="3360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1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761981" y="0"/>
            <a:ext cx="2430018" cy="3389757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2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32855" y="2154707"/>
            <a:ext cx="539711" cy="5397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05244" y="2353576"/>
            <a:ext cx="359384" cy="359397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24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427345" y="2345575"/>
            <a:ext cx="359384" cy="359397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14"/>
          <p:cNvSpPr txBox="1"/>
          <p:nvPr>
            <p:ph idx="11" type="ftr"/>
          </p:nvPr>
        </p:nvSpPr>
        <p:spPr>
          <a:xfrm>
            <a:off x="4822697" y="6464680"/>
            <a:ext cx="2546350" cy="1784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4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4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5"/>
          <p:cNvSpPr txBox="1"/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5"/>
          <p:cNvSpPr txBox="1"/>
          <p:nvPr>
            <p:ph idx="1" type="subTitle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5"/>
          <p:cNvSpPr txBox="1"/>
          <p:nvPr>
            <p:ph idx="11" type="ftr"/>
          </p:nvPr>
        </p:nvSpPr>
        <p:spPr>
          <a:xfrm>
            <a:off x="4822697" y="6464680"/>
            <a:ext cx="2546350" cy="1784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5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5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6"/>
          <p:cNvSpPr txBox="1"/>
          <p:nvPr>
            <p:ph type="title"/>
          </p:nvPr>
        </p:nvSpPr>
        <p:spPr>
          <a:xfrm>
            <a:off x="916939" y="609676"/>
            <a:ext cx="6320155" cy="697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6"/>
          <p:cNvSpPr txBox="1"/>
          <p:nvPr>
            <p:ph idx="1" type="body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6"/>
          <p:cNvSpPr txBox="1"/>
          <p:nvPr>
            <p:ph idx="2" type="body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6"/>
          <p:cNvSpPr txBox="1"/>
          <p:nvPr>
            <p:ph idx="11" type="ftr"/>
          </p:nvPr>
        </p:nvSpPr>
        <p:spPr>
          <a:xfrm>
            <a:off x="4822697" y="6464680"/>
            <a:ext cx="2546350" cy="1784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6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6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7"/>
          <p:cNvSpPr txBox="1"/>
          <p:nvPr>
            <p:ph type="title"/>
          </p:nvPr>
        </p:nvSpPr>
        <p:spPr>
          <a:xfrm>
            <a:off x="916939" y="609676"/>
            <a:ext cx="6320155" cy="697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7"/>
          <p:cNvSpPr txBox="1"/>
          <p:nvPr>
            <p:ph idx="11" type="ftr"/>
          </p:nvPr>
        </p:nvSpPr>
        <p:spPr>
          <a:xfrm>
            <a:off x="4822697" y="6464680"/>
            <a:ext cx="2546350" cy="1784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7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7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/>
          <p:nvPr>
            <p:ph type="title"/>
          </p:nvPr>
        </p:nvSpPr>
        <p:spPr>
          <a:xfrm>
            <a:off x="916939" y="609676"/>
            <a:ext cx="6320155" cy="697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2"/>
          <p:cNvSpPr txBox="1"/>
          <p:nvPr>
            <p:ph idx="1" type="body"/>
          </p:nvPr>
        </p:nvSpPr>
        <p:spPr>
          <a:xfrm>
            <a:off x="793750" y="1504696"/>
            <a:ext cx="9672955" cy="45319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2"/>
          <p:cNvSpPr txBox="1"/>
          <p:nvPr>
            <p:ph idx="11" type="ftr"/>
          </p:nvPr>
        </p:nvSpPr>
        <p:spPr>
          <a:xfrm>
            <a:off x="4822697" y="6464680"/>
            <a:ext cx="2546350" cy="1784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9" name="Google Shape;9;p12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0" name="Google Shape;10;p12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as image" id="51" name="Google Shape;51;g3f72a4e24a8_0_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56" name="Google Shape;56;p2"/>
          <p:cNvSpPr txBox="1"/>
          <p:nvPr>
            <p:ph type="title"/>
          </p:nvPr>
        </p:nvSpPr>
        <p:spPr>
          <a:xfrm>
            <a:off x="688351" y="453900"/>
            <a:ext cx="9476700" cy="50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/>
              <a:t>Churn Analysis &amp; Customer Intelligence</a:t>
            </a:r>
            <a:endParaRPr sz="3200"/>
          </a:p>
        </p:txBody>
      </p:sp>
      <p:sp>
        <p:nvSpPr>
          <p:cNvPr id="57" name="Google Shape;57;p2"/>
          <p:cNvSpPr txBox="1"/>
          <p:nvPr/>
        </p:nvSpPr>
        <p:spPr>
          <a:xfrm>
            <a:off x="692090" y="1369989"/>
            <a:ext cx="10807800" cy="45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1275">
            <a:spAutoFit/>
          </a:bodyPr>
          <a:lstStyle/>
          <a:p>
            <a:pPr indent="-238760" lvl="0" marL="25146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Calibri"/>
              <a:buAutoNum type="arabicPeriod"/>
            </a:pPr>
            <a:r>
              <a:rPr b="1" lang="en-US" sz="1900">
                <a:latin typeface="Calibri"/>
                <a:ea typeface="Calibri"/>
                <a:cs typeface="Calibri"/>
                <a:sym typeface="Calibri"/>
              </a:rPr>
              <a:t>The Business Challenge</a:t>
            </a:r>
            <a:endParaRPr sz="190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5080" rtl="0" algn="l">
              <a:lnSpc>
                <a:spcPct val="95789"/>
              </a:lnSpc>
              <a:spcBef>
                <a:spcPts val="985"/>
              </a:spcBef>
              <a:spcAft>
                <a:spcPts val="0"/>
              </a:spcAft>
              <a:buNone/>
            </a:pPr>
            <a:r>
              <a:rPr lang="en-US" sz="1900">
                <a:latin typeface="Calibri"/>
                <a:ea typeface="Calibri"/>
                <a:cs typeface="Calibri"/>
                <a:sym typeface="Calibri"/>
              </a:rPr>
              <a:t>In the hyper-competitive OTT landscape (Netflix, Hotstar, Prime), retention is the only way to survive. You will act as a Data Analyst tasked with identifying high-risk subscribers using a multi-dimensional dataset (Customer demographics, Subscription tiers, and Support escalations).</a:t>
            </a:r>
            <a:endParaRPr sz="1900">
              <a:latin typeface="Calibri"/>
              <a:ea typeface="Calibri"/>
              <a:cs typeface="Calibri"/>
              <a:sym typeface="Calibri"/>
            </a:endParaRPr>
          </a:p>
          <a:p>
            <a:pPr indent="-238760" lvl="0" marL="251460" rtl="0" algn="l">
              <a:lnSpc>
                <a:spcPct val="100000"/>
              </a:lnSpc>
              <a:spcBef>
                <a:spcPts val="2150"/>
              </a:spcBef>
              <a:spcAft>
                <a:spcPts val="0"/>
              </a:spcAft>
              <a:buSzPts val="1900"/>
              <a:buFont typeface="Calibri"/>
              <a:buAutoNum type="arabicPeriod" startAt="2"/>
            </a:pPr>
            <a:r>
              <a:rPr b="1" lang="en-US" sz="1900">
                <a:latin typeface="Calibri"/>
                <a:ea typeface="Calibri"/>
                <a:cs typeface="Calibri"/>
                <a:sym typeface="Calibri"/>
              </a:rPr>
              <a:t>Core Tech Stack</a:t>
            </a:r>
            <a:endParaRPr sz="190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661035" rtl="0" algn="l">
              <a:lnSpc>
                <a:spcPct val="110000"/>
              </a:lnSpc>
              <a:spcBef>
                <a:spcPts val="430"/>
              </a:spcBef>
              <a:spcAft>
                <a:spcPts val="0"/>
              </a:spcAft>
              <a:buNone/>
            </a:pPr>
            <a:r>
              <a:rPr lang="en-US" sz="1900">
                <a:latin typeface="Calibri"/>
                <a:ea typeface="Calibri"/>
                <a:cs typeface="Calibri"/>
                <a:sym typeface="Calibri"/>
              </a:rPr>
              <a:t>SQL &amp; Python Integration (</a:t>
            </a:r>
            <a:r>
              <a:rPr i="1" lang="en-US" sz="1900">
                <a:latin typeface="Calibri"/>
                <a:ea typeface="Calibri"/>
                <a:cs typeface="Calibri"/>
                <a:sym typeface="Calibri"/>
              </a:rPr>
              <a:t>numpy, pandas, sqlite3, matplotlib, seaborn</a:t>
            </a:r>
            <a:r>
              <a:rPr lang="en-US" sz="1900">
                <a:latin typeface="Calibri"/>
                <a:ea typeface="Calibri"/>
                <a:cs typeface="Calibri"/>
                <a:sym typeface="Calibri"/>
              </a:rPr>
              <a:t>), Performance Engineering (</a:t>
            </a:r>
            <a:r>
              <a:rPr i="1" lang="en-US" sz="1900">
                <a:latin typeface="Calibri"/>
                <a:ea typeface="Calibri"/>
                <a:cs typeface="Calibri"/>
                <a:sym typeface="Calibri"/>
              </a:rPr>
              <a:t>data cleaning, feature engineering, analytics</a:t>
            </a:r>
            <a:r>
              <a:rPr lang="en-US" sz="1900">
                <a:latin typeface="Calibri"/>
                <a:ea typeface="Calibri"/>
                <a:cs typeface="Calibri"/>
                <a:sym typeface="Calibri"/>
              </a:rPr>
              <a:t>), Behavioral Visualization, Writing Actionable Insights</a:t>
            </a:r>
            <a:endParaRPr sz="1900">
              <a:latin typeface="Calibri"/>
              <a:ea typeface="Calibri"/>
              <a:cs typeface="Calibri"/>
              <a:sym typeface="Calibri"/>
            </a:endParaRPr>
          </a:p>
          <a:p>
            <a:pPr indent="-238760" lvl="0" marL="251460" rtl="0" algn="l">
              <a:lnSpc>
                <a:spcPct val="100000"/>
              </a:lnSpc>
              <a:spcBef>
                <a:spcPts val="2295"/>
              </a:spcBef>
              <a:spcAft>
                <a:spcPts val="0"/>
              </a:spcAft>
              <a:buSzPts val="1900"/>
              <a:buFont typeface="Calibri"/>
              <a:buAutoNum type="arabicPeriod" startAt="3"/>
            </a:pPr>
            <a:r>
              <a:rPr b="1" lang="en-US" sz="1900">
                <a:latin typeface="Calibri"/>
                <a:ea typeface="Calibri"/>
                <a:cs typeface="Calibri"/>
                <a:sym typeface="Calibri"/>
              </a:rPr>
              <a:t>Project Milestones</a:t>
            </a:r>
            <a:endParaRPr sz="1900">
              <a:latin typeface="Calibri"/>
              <a:ea typeface="Calibri"/>
              <a:cs typeface="Calibri"/>
              <a:sym typeface="Calibri"/>
            </a:endParaRPr>
          </a:p>
          <a:p>
            <a:pPr indent="-227329" lvl="1" marL="240029" rtl="0" algn="l">
              <a:lnSpc>
                <a:spcPct val="100000"/>
              </a:lnSpc>
              <a:spcBef>
                <a:spcPts val="540"/>
              </a:spcBef>
              <a:spcAft>
                <a:spcPts val="0"/>
              </a:spcAft>
              <a:buSzPts val="1900"/>
              <a:buFont typeface="Arial"/>
              <a:buChar char="•"/>
            </a:pPr>
            <a:r>
              <a:rPr lang="en-US" sz="1900">
                <a:latin typeface="Calibri"/>
                <a:ea typeface="Calibri"/>
                <a:cs typeface="Calibri"/>
                <a:sym typeface="Calibri"/>
              </a:rPr>
              <a:t>Relational Data Extraction: Connecting Python to SQL databases to pull multi-table datasets.</a:t>
            </a:r>
            <a:endParaRPr sz="1900">
              <a:latin typeface="Calibri"/>
              <a:ea typeface="Calibri"/>
              <a:cs typeface="Calibri"/>
              <a:sym typeface="Calibri"/>
            </a:endParaRPr>
          </a:p>
          <a:p>
            <a:pPr indent="-227329" lvl="1" marL="240029" rtl="0" algn="l">
              <a:lnSpc>
                <a:spcPct val="100000"/>
              </a:lnSpc>
              <a:spcBef>
                <a:spcPts val="540"/>
              </a:spcBef>
              <a:spcAft>
                <a:spcPts val="0"/>
              </a:spcAft>
              <a:buSzPts val="1900"/>
              <a:buFont typeface="Arial"/>
              <a:buChar char="•"/>
            </a:pPr>
            <a:r>
              <a:rPr lang="en-US" sz="1900">
                <a:latin typeface="Calibri"/>
                <a:ea typeface="Calibri"/>
                <a:cs typeface="Calibri"/>
                <a:sym typeface="Calibri"/>
              </a:rPr>
              <a:t>Feature Engineering: Data imports, calculating tenure, churn rates, and customer aging.</a:t>
            </a:r>
            <a:endParaRPr sz="1900">
              <a:latin typeface="Calibri"/>
              <a:ea typeface="Calibri"/>
              <a:cs typeface="Calibri"/>
              <a:sym typeface="Calibri"/>
            </a:endParaRPr>
          </a:p>
          <a:p>
            <a:pPr indent="-227329" lvl="1" marL="240029" rtl="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900"/>
              <a:buFont typeface="Arial"/>
              <a:buChar char="•"/>
            </a:pPr>
            <a:r>
              <a:rPr lang="en-US" sz="1900">
                <a:latin typeface="Calibri"/>
                <a:ea typeface="Calibri"/>
                <a:cs typeface="Calibri"/>
                <a:sym typeface="Calibri"/>
              </a:rPr>
              <a:t>Executive Reporting: Translating technical findings into billion-dollar business insights.</a:t>
            </a:r>
            <a:endParaRPr sz="19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26289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62" name="Google Shape;62;p3"/>
          <p:cNvSpPr txBox="1"/>
          <p:nvPr>
            <p:ph type="title"/>
          </p:nvPr>
        </p:nvSpPr>
        <p:spPr>
          <a:xfrm>
            <a:off x="916939" y="609676"/>
            <a:ext cx="6320100" cy="6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/>
              <a:t>Churn Analysis - Procedures</a:t>
            </a:r>
            <a:endParaRPr sz="4200"/>
          </a:p>
        </p:txBody>
      </p:sp>
      <p:sp>
        <p:nvSpPr>
          <p:cNvPr id="63" name="Google Shape;63;p3"/>
          <p:cNvSpPr txBox="1"/>
          <p:nvPr/>
        </p:nvSpPr>
        <p:spPr>
          <a:xfrm>
            <a:off x="916939" y="1583547"/>
            <a:ext cx="8557800" cy="42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3325">
            <a:spAutoFit/>
          </a:bodyPr>
          <a:lstStyle/>
          <a:p>
            <a:pPr indent="-227965" lvl="0" marL="2406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Connect SQL database to Python </a:t>
            </a:r>
            <a:r>
              <a:rPr i="1" lang="en-US" sz="2800">
                <a:latin typeface="Calibri"/>
                <a:ea typeface="Calibri"/>
                <a:cs typeface="Calibri"/>
                <a:sym typeface="Calibri"/>
              </a:rPr>
              <a:t>– </a:t>
            </a:r>
            <a:r>
              <a:rPr i="1" lang="en-US" sz="2000">
                <a:latin typeface="Calibri"/>
                <a:ea typeface="Calibri"/>
                <a:cs typeface="Calibri"/>
                <a:sym typeface="Calibri"/>
              </a:rPr>
              <a:t>pandas and sqlite3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227329" lvl="0" marL="240029" rtl="0" algn="l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Data import using SQL query in Python </a:t>
            </a:r>
            <a:r>
              <a:rPr i="1" lang="en-US" sz="2800">
                <a:latin typeface="Calibri"/>
                <a:ea typeface="Calibri"/>
                <a:cs typeface="Calibri"/>
                <a:sym typeface="Calibri"/>
              </a:rPr>
              <a:t>– </a:t>
            </a:r>
            <a:r>
              <a:rPr i="1" lang="en-US" sz="2000">
                <a:latin typeface="Calibri"/>
                <a:ea typeface="Calibri"/>
                <a:cs typeface="Calibri"/>
                <a:sym typeface="Calibri"/>
              </a:rPr>
              <a:t>pandas and sqlite3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227965" lvl="0" marL="240665" rtl="0" algn="l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Data Cleaning </a:t>
            </a:r>
            <a:r>
              <a:rPr i="1" lang="en-US" sz="2800">
                <a:latin typeface="Calibri"/>
                <a:ea typeface="Calibri"/>
                <a:cs typeface="Calibri"/>
                <a:sym typeface="Calibri"/>
              </a:rPr>
              <a:t>– </a:t>
            </a:r>
            <a:r>
              <a:rPr i="1" lang="en-US" sz="2000">
                <a:latin typeface="Calibri"/>
                <a:ea typeface="Calibri"/>
                <a:cs typeface="Calibri"/>
                <a:sym typeface="Calibri"/>
              </a:rPr>
              <a:t>numpy and pandas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226695" lvl="1" marL="696595" rtl="0" algn="l">
              <a:lnSpc>
                <a:spcPct val="100000"/>
              </a:lnSpc>
              <a:spcBef>
                <a:spcPts val="45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data types, rename cols, select specific cols, QCs, handle missing/null values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227329" lvl="0" marL="240029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Feature Engineering </a:t>
            </a:r>
            <a:r>
              <a:rPr i="1" lang="en-US" sz="2800">
                <a:latin typeface="Calibri"/>
                <a:ea typeface="Calibri"/>
                <a:cs typeface="Calibri"/>
                <a:sym typeface="Calibri"/>
              </a:rPr>
              <a:t>– </a:t>
            </a:r>
            <a:r>
              <a:rPr i="1" lang="en-US" sz="2000">
                <a:latin typeface="Calibri"/>
                <a:ea typeface="Calibri"/>
                <a:cs typeface="Calibri"/>
                <a:sym typeface="Calibri"/>
              </a:rPr>
              <a:t>numpy and pandas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226695" lvl="1" marL="696595" rtl="0" algn="l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Create new calculated cols, data transformation, use filters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227965" lvl="0" marL="240665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Data Analysis </a:t>
            </a:r>
            <a:r>
              <a:rPr i="1" lang="en-US" sz="2800">
                <a:latin typeface="Calibri"/>
                <a:ea typeface="Calibri"/>
                <a:cs typeface="Calibri"/>
                <a:sym typeface="Calibri"/>
              </a:rPr>
              <a:t>– </a:t>
            </a:r>
            <a:r>
              <a:rPr i="1" lang="en-US" sz="2000">
                <a:latin typeface="Calibri"/>
                <a:ea typeface="Calibri"/>
                <a:cs typeface="Calibri"/>
                <a:sym typeface="Calibri"/>
              </a:rPr>
              <a:t>numpy and pandas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226695" lvl="1" marL="696595" rtl="0" algn="l">
              <a:lnSpc>
                <a:spcPct val="100000"/>
              </a:lnSpc>
              <a:spcBef>
                <a:spcPts val="45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EDA - aggregation, group by, pivot table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227329" lvl="0" marL="240029" rtl="0" algn="l">
              <a:lnSpc>
                <a:spcPct val="100000"/>
              </a:lnSpc>
              <a:spcBef>
                <a:spcPts val="305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Data Visualization </a:t>
            </a:r>
            <a:r>
              <a:rPr i="1" lang="en-US" sz="2800">
                <a:latin typeface="Calibri"/>
                <a:ea typeface="Calibri"/>
                <a:cs typeface="Calibri"/>
                <a:sym typeface="Calibri"/>
              </a:rPr>
              <a:t>– </a:t>
            </a:r>
            <a:r>
              <a:rPr i="1" lang="en-US" sz="2000">
                <a:latin typeface="Calibri"/>
                <a:ea typeface="Calibri"/>
                <a:cs typeface="Calibri"/>
                <a:sym typeface="Calibri"/>
              </a:rPr>
              <a:t>matplotlib and seaborn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227965" lvl="0" marL="240665" rtl="0" algn="l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Insights on ppt </a:t>
            </a:r>
            <a:r>
              <a:rPr i="1" lang="en-US" sz="2800">
                <a:latin typeface="Calibri"/>
                <a:ea typeface="Calibri"/>
                <a:cs typeface="Calibri"/>
                <a:sym typeface="Calibri"/>
              </a:rPr>
              <a:t>– </a:t>
            </a:r>
            <a:r>
              <a:rPr i="1" lang="en-US" sz="2000">
                <a:latin typeface="Calibri"/>
                <a:ea typeface="Calibri"/>
                <a:cs typeface="Calibri"/>
                <a:sym typeface="Calibri"/>
              </a:rPr>
              <a:t>key insights, next steps, impacts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68" name="Google Shape;68;p4"/>
          <p:cNvSpPr txBox="1"/>
          <p:nvPr>
            <p:ph type="title"/>
          </p:nvPr>
        </p:nvSpPr>
        <p:spPr>
          <a:xfrm>
            <a:off x="916952" y="609675"/>
            <a:ext cx="7721100" cy="56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/>
              <a:t>Churn Definition by Business</a:t>
            </a:r>
            <a:endParaRPr sz="3600"/>
          </a:p>
        </p:txBody>
      </p:sp>
      <p:graphicFrame>
        <p:nvGraphicFramePr>
          <p:cNvPr id="69" name="Google Shape;69;p4"/>
          <p:cNvGraphicFramePr/>
          <p:nvPr/>
        </p:nvGraphicFramePr>
        <p:xfrm>
          <a:off x="831850" y="356895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{6D8AB216-FEF0-442D-9C2B-210B28296958}</a:tableStyleId>
              </a:tblPr>
              <a:tblGrid>
                <a:gridCol w="1932300"/>
                <a:gridCol w="3828425"/>
              </a:tblGrid>
              <a:tr h="367025"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Business Type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9525" marB="0" marR="0" marL="0">
                    <a:lnL cap="flat" cmpd="sng" w="12700">
                      <a:solidFill>
                        <a:srgbClr val="7E7E7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E7E7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E7E7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E7E7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Churn Definition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9525" marB="0" marR="0" marL="0">
                    <a:lnL cap="flat" cmpd="sng" w="12700">
                      <a:solidFill>
                        <a:srgbClr val="7E7E7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E7E7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E7E7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E7E7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7025"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SaaS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9525" marB="0" marR="0" marL="0">
                    <a:lnL cap="flat" cmpd="sng" w="12700">
                      <a:solidFill>
                        <a:srgbClr val="7E7E7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E7E7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E7E7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E7E7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Subscription canceled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9525" marB="0" marR="0" marL="0">
                    <a:lnL cap="flat" cmpd="sng" w="12700">
                      <a:solidFill>
                        <a:srgbClr val="7E7E7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E7E7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E7E7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E7E7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7025"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E-commerce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9525" marB="0" marR="0" marL="0">
                    <a:lnL cap="flat" cmpd="sng" w="12700">
                      <a:solidFill>
                        <a:srgbClr val="7E7E7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E7E7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E7E7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E7E7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 purchase in 90 days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9525" marB="0" marR="0" marL="0">
                    <a:lnL cap="flat" cmpd="sng" w="12700">
                      <a:solidFill>
                        <a:srgbClr val="7E7E7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E7E7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E7E7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E7E7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7025"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Adtech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175" marB="0" marR="0" marL="0">
                    <a:lnL cap="flat" cmpd="sng" w="12700">
                      <a:solidFill>
                        <a:srgbClr val="7E7E7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E7E7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E7E7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E7E7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Using service/app in 90 – 120 days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175" marB="0" marR="0" marL="0">
                    <a:lnL cap="flat" cmpd="sng" w="12700">
                      <a:solidFill>
                        <a:srgbClr val="7E7E7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E7E7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E7E7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E7E7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7025"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Streaming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9525" marB="0" marR="0" marL="0">
                    <a:lnL cap="flat" cmpd="sng" w="12700">
                      <a:solidFill>
                        <a:srgbClr val="7E7E7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E7E7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E7E7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E7E7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Membership inactive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9525" marB="0" marR="0" marL="0">
                    <a:lnL cap="flat" cmpd="sng" w="12700">
                      <a:solidFill>
                        <a:srgbClr val="7E7E7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E7E7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E7E7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E7E7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7025"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Telecom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175" marB="0" marR="0" marL="0">
                    <a:lnL cap="flat" cmpd="sng" w="12700">
                      <a:solidFill>
                        <a:srgbClr val="7E7E7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E7E7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E7E7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E7E7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Account terminated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175" marB="0" marR="0" marL="0">
                    <a:lnL cap="flat" cmpd="sng" w="12700">
                      <a:solidFill>
                        <a:srgbClr val="7E7E7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E7E7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E7E7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E7E7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7025"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Banking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175" marB="0" marR="0" marL="0">
                    <a:lnL cap="flat" cmpd="sng" w="12700">
                      <a:solidFill>
                        <a:srgbClr val="7E7E7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E7E7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E7E7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E7E7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 transactions for X months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175" marB="0" marR="0" marL="0">
                    <a:lnL cap="flat" cmpd="sng" w="12700">
                      <a:solidFill>
                        <a:srgbClr val="7E7E7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E7E7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E7E7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E7E7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70" name="Google Shape;70;p4"/>
          <p:cNvSpPr txBox="1"/>
          <p:nvPr/>
        </p:nvSpPr>
        <p:spPr>
          <a:xfrm>
            <a:off x="916939" y="1619758"/>
            <a:ext cx="7393305" cy="1488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latin typeface="Calibri"/>
                <a:ea typeface="Calibri"/>
                <a:cs typeface="Calibri"/>
                <a:sym typeface="Calibri"/>
              </a:rPr>
              <a:t>Churn analysis </a:t>
            </a:r>
            <a:r>
              <a:rPr lang="en-US" sz="1600">
                <a:latin typeface="Calibri"/>
                <a:ea typeface="Calibri"/>
                <a:cs typeface="Calibri"/>
                <a:sym typeface="Calibri"/>
              </a:rPr>
              <a:t>is the process of figuring out why customers stop doing business with you.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1920"/>
              </a:spcBef>
              <a:spcAft>
                <a:spcPts val="0"/>
              </a:spcAft>
              <a:buNone/>
            </a:pPr>
            <a:r>
              <a:rPr lang="en-US" sz="1600">
                <a:latin typeface="Calibri"/>
                <a:ea typeface="Calibri"/>
                <a:cs typeface="Calibri"/>
                <a:sym typeface="Calibri"/>
              </a:rPr>
              <a:t>For this, we only need to look at three things: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-286385" lvl="0" marL="299085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SzPts val="1600"/>
              <a:buFont typeface="Arial"/>
              <a:buChar char="•"/>
            </a:pPr>
            <a:r>
              <a:rPr b="1" lang="en-US" sz="1600">
                <a:latin typeface="Calibri"/>
                <a:ea typeface="Calibri"/>
                <a:cs typeface="Calibri"/>
                <a:sym typeface="Calibri"/>
              </a:rPr>
              <a:t>"Who": </a:t>
            </a:r>
            <a:r>
              <a:rPr lang="en-US" sz="1600">
                <a:latin typeface="Calibri"/>
                <a:ea typeface="Calibri"/>
                <a:cs typeface="Calibri"/>
                <a:sym typeface="Calibri"/>
              </a:rPr>
              <a:t>Identifying which customers left or will leave in future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-286385" lvl="0" marL="2990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•"/>
            </a:pPr>
            <a:r>
              <a:rPr b="1" lang="en-US" sz="1600">
                <a:latin typeface="Calibri"/>
                <a:ea typeface="Calibri"/>
                <a:cs typeface="Calibri"/>
                <a:sym typeface="Calibri"/>
              </a:rPr>
              <a:t>"Why": </a:t>
            </a:r>
            <a:r>
              <a:rPr lang="en-US" sz="1600">
                <a:latin typeface="Calibri"/>
                <a:ea typeface="Calibri"/>
                <a:cs typeface="Calibri"/>
                <a:sym typeface="Calibri"/>
              </a:rPr>
              <a:t>Analyzing their behavior before they left.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-286385" lvl="0" marL="2990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•"/>
            </a:pPr>
            <a:r>
              <a:rPr b="1" lang="en-US" sz="1600">
                <a:latin typeface="Calibri"/>
                <a:ea typeface="Calibri"/>
                <a:cs typeface="Calibri"/>
                <a:sym typeface="Calibri"/>
              </a:rPr>
              <a:t>"When": </a:t>
            </a:r>
            <a:r>
              <a:rPr lang="en-US" sz="1600">
                <a:latin typeface="Calibri"/>
                <a:ea typeface="Calibri"/>
                <a:cs typeface="Calibri"/>
                <a:sym typeface="Calibri"/>
              </a:rPr>
              <a:t>Finding the "danger zone" – point when a user leave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75" name="Google Shape;75;p5"/>
          <p:cNvSpPr txBox="1"/>
          <p:nvPr>
            <p:ph type="title"/>
          </p:nvPr>
        </p:nvSpPr>
        <p:spPr>
          <a:xfrm>
            <a:off x="916939" y="609676"/>
            <a:ext cx="6320155" cy="697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Database Tables</a:t>
            </a:r>
            <a:endParaRPr/>
          </a:p>
        </p:txBody>
      </p:sp>
      <p:graphicFrame>
        <p:nvGraphicFramePr>
          <p:cNvPr id="76" name="Google Shape;76;p5"/>
          <p:cNvGraphicFramePr/>
          <p:nvPr/>
        </p:nvGraphicFramePr>
        <p:xfrm>
          <a:off x="1061885" y="211150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{6D8AB216-FEF0-442D-9C2B-210B28296958}</a:tableStyleId>
              </a:tblPr>
              <a:tblGrid>
                <a:gridCol w="1458600"/>
              </a:tblGrid>
              <a:tr h="287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db_customer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075" marB="0" marR="0" marL="0">
                    <a:lnL cap="flat" cmpd="sng" w="12700">
                      <a:solidFill>
                        <a:srgbClr val="7E7E7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E7E7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E7E7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E7E7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0F1"/>
                    </a:solidFill>
                  </a:tcPr>
                </a:tc>
              </a:tr>
              <a:tr h="287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customerid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1425" marB="0" marR="0" marL="0">
                    <a:lnL cap="flat" cmpd="sng" w="12700">
                      <a:solidFill>
                        <a:srgbClr val="7E7E7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E7E7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E7E7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E7E7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7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name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075" marB="0" marR="0" marL="0">
                    <a:lnL cap="flat" cmpd="sng" w="12700">
                      <a:solidFill>
                        <a:srgbClr val="7E7E7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E7E7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E7E7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E7E7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7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country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075" marB="0" marR="0" marL="0">
                    <a:lnL cap="flat" cmpd="sng" w="12700">
                      <a:solidFill>
                        <a:srgbClr val="7E7E7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E7E7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E7E7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E7E7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7025"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State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1425" marB="0" marR="0" marL="0">
                    <a:lnL cap="flat" cmpd="sng" w="12700">
                      <a:solidFill>
                        <a:srgbClr val="7E7E7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E7E7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E7E7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E7E7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7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gender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6500" marB="0" marR="0" marL="0">
                    <a:lnL cap="flat" cmpd="sng" w="12700">
                      <a:solidFill>
                        <a:srgbClr val="7E7E7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E7E7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E7E7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E7E7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7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dob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075" marB="0" marR="0" marL="0">
                    <a:lnL cap="flat" cmpd="sng" w="12700">
                      <a:solidFill>
                        <a:srgbClr val="7E7E7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E7E7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E7E7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E7E7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7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interests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075" marB="0" marR="0" marL="0">
                    <a:lnL cap="flat" cmpd="sng" w="12700">
                      <a:solidFill>
                        <a:srgbClr val="7E7E7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E7E7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E7E7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E7E7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7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pincode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075" marB="0" marR="0" marL="0">
                    <a:lnL cap="flat" cmpd="sng" w="12700">
                      <a:solidFill>
                        <a:srgbClr val="7E7E7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E7E7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E7E7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E7E7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77" name="Google Shape;77;p5"/>
          <p:cNvGraphicFramePr/>
          <p:nvPr/>
        </p:nvGraphicFramePr>
        <p:xfrm>
          <a:off x="3853688" y="211150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{6D8AB216-FEF0-442D-9C2B-210B28296958}</a:tableStyleId>
              </a:tblPr>
              <a:tblGrid>
                <a:gridCol w="2564125"/>
              </a:tblGrid>
              <a:tr h="2908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db_subscription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3975" marB="0" marR="0" marL="0">
                    <a:lnL cap="flat" cmpd="sng" w="12700">
                      <a:solidFill>
                        <a:srgbClr val="7E7E7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E7E7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E7E7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E7E7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3D5"/>
                    </a:solidFill>
                  </a:tcPr>
                </a:tc>
              </a:tr>
              <a:tr h="291475"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customerid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3975" marB="0" marR="0" marL="0">
                    <a:lnL cap="flat" cmpd="sng" w="12700">
                      <a:solidFill>
                        <a:srgbClr val="7E7E7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E7E7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E7E7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E7E7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08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subscription_start_date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3325" marB="0" marR="0" marL="0">
                    <a:lnL cap="flat" cmpd="sng" w="12700">
                      <a:solidFill>
                        <a:srgbClr val="7E7E7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E7E7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E7E7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E7E7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0825">
                <a:tc>
                  <a:txBody>
                    <a:bodyPr/>
                    <a:lstStyle/>
                    <a:p>
                      <a:pPr indent="0" lvl="0" marL="127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subscription_type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3975" marB="0" marR="0" marL="0">
                    <a:lnL cap="flat" cmpd="sng" w="12700">
                      <a:solidFill>
                        <a:srgbClr val="7E7E7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E7E7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E7E7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E7E7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08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renewal_date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3975" marB="0" marR="0" marL="0">
                    <a:lnL cap="flat" cmpd="sng" w="12700">
                      <a:solidFill>
                        <a:srgbClr val="7E7E7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E7E7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E7E7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E7E7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1475">
                <a:tc>
                  <a:txBody>
                    <a:bodyPr/>
                    <a:lstStyle/>
                    <a:p>
                      <a:pPr indent="0" lvl="0" marL="127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plan_type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3975" marB="0" marR="0" marL="0">
                    <a:lnL cap="flat" cmpd="sng" w="12700">
                      <a:solidFill>
                        <a:srgbClr val="7E7E7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E7E7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E7E7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E7E7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0825">
                <a:tc>
                  <a:txBody>
                    <a:bodyPr/>
                    <a:lstStyle/>
                    <a:p>
                      <a:pPr indent="0" lvl="0" marL="127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contract_type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3975" marB="0" marR="0" marL="0">
                    <a:lnL cap="flat" cmpd="sng" w="12700">
                      <a:solidFill>
                        <a:srgbClr val="7E7E7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E7E7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E7E7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E7E7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cancellation_date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3975" marB="0" marR="0" marL="0">
                    <a:lnL cap="flat" cmpd="sng" w="12700">
                      <a:solidFill>
                        <a:srgbClr val="7E7E7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E7E7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E7E7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E7E7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08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cancellation_reason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3975" marB="0" marR="0" marL="0">
                    <a:lnL cap="flat" cmpd="sng" w="12700">
                      <a:solidFill>
                        <a:srgbClr val="7E7E7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E7E7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E7E7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E7E7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08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monthly_charges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3975" marB="0" marR="0" marL="0">
                    <a:lnL cap="flat" cmpd="sng" w="12700">
                      <a:solidFill>
                        <a:srgbClr val="7E7E7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E7E7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E7E7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E7E7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1475">
                <a:tc>
                  <a:txBody>
                    <a:bodyPr/>
                    <a:lstStyle/>
                    <a:p>
                      <a:pPr indent="0" lvl="0" marL="127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cltv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4600" marB="0" marR="0" marL="0">
                    <a:lnL cap="flat" cmpd="sng" w="12700">
                      <a:solidFill>
                        <a:srgbClr val="7E7E7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E7E7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E7E7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E7E7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08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churn_score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3975" marB="0" marR="0" marL="0">
                    <a:lnL cap="flat" cmpd="sng" w="12700">
                      <a:solidFill>
                        <a:srgbClr val="7E7E7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E7E7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E7E7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E7E7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78" name="Google Shape;78;p5"/>
          <p:cNvGraphicFramePr/>
          <p:nvPr/>
        </p:nvGraphicFramePr>
        <p:xfrm>
          <a:off x="7751318" y="210375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{6D8AB216-FEF0-442D-9C2B-210B28296958}</a:tableStyleId>
              </a:tblPr>
              <a:tblGrid>
                <a:gridCol w="1681475"/>
              </a:tblGrid>
              <a:tr h="297825">
                <a:tc>
                  <a:txBody>
                    <a:bodyPr/>
                    <a:lstStyle/>
                    <a:p>
                      <a:pPr indent="0" lvl="0" marL="127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db_support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7150" marB="0" marR="0" marL="0">
                    <a:lnL cap="flat" cmpd="sng" w="12700">
                      <a:solidFill>
                        <a:srgbClr val="7E7E7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E7E7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E7E7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E7E7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EDA"/>
                    </a:solidFill>
                  </a:tcPr>
                </a:tc>
              </a:tr>
              <a:tr h="297825">
                <a:tc>
                  <a:txBody>
                    <a:bodyPr/>
                    <a:lstStyle/>
                    <a:p>
                      <a:pPr indent="0" lvl="0" marL="190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customerid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7150" marB="0" marR="0" marL="0">
                    <a:lnL cap="flat" cmpd="sng" w="12700">
                      <a:solidFill>
                        <a:srgbClr val="7E7E7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E7E7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E7E7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E7E7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78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complaint_date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7150" marB="0" marR="0" marL="0">
                    <a:lnL cap="flat" cmpd="sng" w="12700">
                      <a:solidFill>
                        <a:srgbClr val="7E7E7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E7E7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E7E7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E7E7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7825">
                <a:tc>
                  <a:txBody>
                    <a:bodyPr/>
                    <a:lstStyle/>
                    <a:p>
                      <a:pPr indent="0" lvl="0" marL="127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Escalations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7150" marB="0" marR="0" marL="0">
                    <a:lnL cap="flat" cmpd="sng" w="12700">
                      <a:solidFill>
                        <a:srgbClr val="7E7E7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E7E7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E7E7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E7E7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7825">
                <a:tc>
                  <a:txBody>
                    <a:bodyPr/>
                    <a:lstStyle/>
                    <a:p>
                      <a:pPr indent="0" lvl="0" marL="444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csat_score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7150" marB="0" marR="0" marL="0">
                    <a:lnL cap="flat" cmpd="sng" w="12700">
                      <a:solidFill>
                        <a:srgbClr val="7E7E7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E7E7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E7E7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E7E7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7825">
                <a:tc>
                  <a:txBody>
                    <a:bodyPr/>
                    <a:lstStyle/>
                    <a:p>
                      <a:pPr indent="0" lvl="0" marL="317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col_1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7150" marB="0" marR="0" marL="0">
                    <a:lnL cap="flat" cmpd="sng" w="12700">
                      <a:solidFill>
                        <a:srgbClr val="7E7E7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E7E7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E7E7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E7E7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7825">
                <a:tc>
                  <a:txBody>
                    <a:bodyPr/>
                    <a:lstStyle/>
                    <a:p>
                      <a:pPr indent="0" lvl="0" marL="127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comment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7150" marB="0" marR="0" marL="0">
                    <a:lnL cap="flat" cmpd="sng" w="12700">
                      <a:solidFill>
                        <a:srgbClr val="7E7E7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E7E7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E7E7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E7E7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79" name="Google Shape;79;p5"/>
          <p:cNvSpPr/>
          <p:nvPr/>
        </p:nvSpPr>
        <p:spPr>
          <a:xfrm>
            <a:off x="2634995" y="2533142"/>
            <a:ext cx="1052195" cy="85725"/>
          </a:xfrm>
          <a:custGeom>
            <a:rect b="b" l="l" r="r" t="t"/>
            <a:pathLst>
              <a:path extrusionOk="0" h="85725" w="1052195">
                <a:moveTo>
                  <a:pt x="85725" y="0"/>
                </a:moveTo>
                <a:lnTo>
                  <a:pt x="0" y="42925"/>
                </a:lnTo>
                <a:lnTo>
                  <a:pt x="85725" y="85725"/>
                </a:lnTo>
                <a:lnTo>
                  <a:pt x="85725" y="57150"/>
                </a:lnTo>
                <a:lnTo>
                  <a:pt x="71501" y="57150"/>
                </a:lnTo>
                <a:lnTo>
                  <a:pt x="71501" y="28575"/>
                </a:lnTo>
                <a:lnTo>
                  <a:pt x="85725" y="28575"/>
                </a:lnTo>
                <a:lnTo>
                  <a:pt x="85725" y="0"/>
                </a:lnTo>
                <a:close/>
              </a:path>
              <a:path extrusionOk="0" h="85725" w="1052195">
                <a:moveTo>
                  <a:pt x="85725" y="28575"/>
                </a:moveTo>
                <a:lnTo>
                  <a:pt x="71501" y="28575"/>
                </a:lnTo>
                <a:lnTo>
                  <a:pt x="71501" y="57150"/>
                </a:lnTo>
                <a:lnTo>
                  <a:pt x="85725" y="57150"/>
                </a:lnTo>
                <a:lnTo>
                  <a:pt x="85725" y="28575"/>
                </a:lnTo>
                <a:close/>
              </a:path>
              <a:path extrusionOk="0" h="85725" w="1052195">
                <a:moveTo>
                  <a:pt x="185801" y="28575"/>
                </a:moveTo>
                <a:lnTo>
                  <a:pt x="85725" y="28575"/>
                </a:lnTo>
                <a:lnTo>
                  <a:pt x="85725" y="57150"/>
                </a:lnTo>
                <a:lnTo>
                  <a:pt x="185801" y="57150"/>
                </a:lnTo>
                <a:lnTo>
                  <a:pt x="185801" y="28575"/>
                </a:lnTo>
                <a:close/>
              </a:path>
              <a:path extrusionOk="0" h="85725" w="1052195">
                <a:moveTo>
                  <a:pt x="385826" y="28575"/>
                </a:moveTo>
                <a:lnTo>
                  <a:pt x="271526" y="28575"/>
                </a:lnTo>
                <a:lnTo>
                  <a:pt x="271526" y="57150"/>
                </a:lnTo>
                <a:lnTo>
                  <a:pt x="385826" y="57150"/>
                </a:lnTo>
                <a:lnTo>
                  <a:pt x="385826" y="28575"/>
                </a:lnTo>
                <a:close/>
              </a:path>
              <a:path extrusionOk="0" h="85725" w="1052195">
                <a:moveTo>
                  <a:pt x="585851" y="28575"/>
                </a:moveTo>
                <a:lnTo>
                  <a:pt x="471551" y="28575"/>
                </a:lnTo>
                <a:lnTo>
                  <a:pt x="471551" y="57150"/>
                </a:lnTo>
                <a:lnTo>
                  <a:pt x="585851" y="57150"/>
                </a:lnTo>
                <a:lnTo>
                  <a:pt x="585851" y="28575"/>
                </a:lnTo>
                <a:close/>
              </a:path>
              <a:path extrusionOk="0" h="85725" w="1052195">
                <a:moveTo>
                  <a:pt x="785876" y="28575"/>
                </a:moveTo>
                <a:lnTo>
                  <a:pt x="671576" y="28575"/>
                </a:lnTo>
                <a:lnTo>
                  <a:pt x="671576" y="57150"/>
                </a:lnTo>
                <a:lnTo>
                  <a:pt x="785876" y="57150"/>
                </a:lnTo>
                <a:lnTo>
                  <a:pt x="785876" y="28575"/>
                </a:lnTo>
                <a:close/>
              </a:path>
              <a:path extrusionOk="0" h="85725" w="1052195">
                <a:moveTo>
                  <a:pt x="966343" y="0"/>
                </a:moveTo>
                <a:lnTo>
                  <a:pt x="966343" y="85725"/>
                </a:lnTo>
                <a:lnTo>
                  <a:pt x="1023577" y="57150"/>
                </a:lnTo>
                <a:lnTo>
                  <a:pt x="980694" y="57150"/>
                </a:lnTo>
                <a:lnTo>
                  <a:pt x="980694" y="28575"/>
                </a:lnTo>
                <a:lnTo>
                  <a:pt x="1023408" y="28575"/>
                </a:lnTo>
                <a:lnTo>
                  <a:pt x="966343" y="0"/>
                </a:lnTo>
                <a:close/>
              </a:path>
              <a:path extrusionOk="0" h="85725" w="1052195">
                <a:moveTo>
                  <a:pt x="966343" y="28575"/>
                </a:moveTo>
                <a:lnTo>
                  <a:pt x="871601" y="28575"/>
                </a:lnTo>
                <a:lnTo>
                  <a:pt x="871601" y="57150"/>
                </a:lnTo>
                <a:lnTo>
                  <a:pt x="966343" y="57150"/>
                </a:lnTo>
                <a:lnTo>
                  <a:pt x="966343" y="28575"/>
                </a:lnTo>
                <a:close/>
              </a:path>
              <a:path extrusionOk="0" h="85725" w="1052195">
                <a:moveTo>
                  <a:pt x="1023408" y="28575"/>
                </a:moveTo>
                <a:lnTo>
                  <a:pt x="980694" y="28575"/>
                </a:lnTo>
                <a:lnTo>
                  <a:pt x="980694" y="57150"/>
                </a:lnTo>
                <a:lnTo>
                  <a:pt x="1023577" y="57150"/>
                </a:lnTo>
                <a:lnTo>
                  <a:pt x="1052068" y="42925"/>
                </a:lnTo>
                <a:lnTo>
                  <a:pt x="1023408" y="28575"/>
                </a:lnTo>
                <a:close/>
              </a:path>
            </a:pathLst>
          </a:custGeom>
          <a:solidFill>
            <a:srgbClr val="44536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5"/>
          <p:cNvSpPr/>
          <p:nvPr/>
        </p:nvSpPr>
        <p:spPr>
          <a:xfrm>
            <a:off x="6562979" y="2528316"/>
            <a:ext cx="1052195" cy="85725"/>
          </a:xfrm>
          <a:custGeom>
            <a:rect b="b" l="l" r="r" t="t"/>
            <a:pathLst>
              <a:path extrusionOk="0" h="85725" w="1052195">
                <a:moveTo>
                  <a:pt x="85725" y="0"/>
                </a:moveTo>
                <a:lnTo>
                  <a:pt x="0" y="42799"/>
                </a:lnTo>
                <a:lnTo>
                  <a:pt x="85725" y="85725"/>
                </a:lnTo>
                <a:lnTo>
                  <a:pt x="85725" y="57150"/>
                </a:lnTo>
                <a:lnTo>
                  <a:pt x="71500" y="57150"/>
                </a:lnTo>
                <a:lnTo>
                  <a:pt x="71500" y="28575"/>
                </a:lnTo>
                <a:lnTo>
                  <a:pt x="85725" y="28575"/>
                </a:lnTo>
                <a:lnTo>
                  <a:pt x="85725" y="0"/>
                </a:lnTo>
                <a:close/>
              </a:path>
              <a:path extrusionOk="0" h="85725" w="1052195">
                <a:moveTo>
                  <a:pt x="85725" y="28575"/>
                </a:moveTo>
                <a:lnTo>
                  <a:pt x="71500" y="28575"/>
                </a:lnTo>
                <a:lnTo>
                  <a:pt x="71500" y="57150"/>
                </a:lnTo>
                <a:lnTo>
                  <a:pt x="85725" y="57150"/>
                </a:lnTo>
                <a:lnTo>
                  <a:pt x="85725" y="28575"/>
                </a:lnTo>
                <a:close/>
              </a:path>
              <a:path extrusionOk="0" h="85725" w="1052195">
                <a:moveTo>
                  <a:pt x="185800" y="28575"/>
                </a:moveTo>
                <a:lnTo>
                  <a:pt x="85725" y="28575"/>
                </a:lnTo>
                <a:lnTo>
                  <a:pt x="85725" y="57150"/>
                </a:lnTo>
                <a:lnTo>
                  <a:pt x="185800" y="57150"/>
                </a:lnTo>
                <a:lnTo>
                  <a:pt x="185800" y="28575"/>
                </a:lnTo>
                <a:close/>
              </a:path>
              <a:path extrusionOk="0" h="85725" w="1052195">
                <a:moveTo>
                  <a:pt x="385825" y="28575"/>
                </a:moveTo>
                <a:lnTo>
                  <a:pt x="271525" y="28575"/>
                </a:lnTo>
                <a:lnTo>
                  <a:pt x="271525" y="57150"/>
                </a:lnTo>
                <a:lnTo>
                  <a:pt x="385825" y="57150"/>
                </a:lnTo>
                <a:lnTo>
                  <a:pt x="385825" y="28575"/>
                </a:lnTo>
                <a:close/>
              </a:path>
              <a:path extrusionOk="0" h="85725" w="1052195">
                <a:moveTo>
                  <a:pt x="585851" y="28575"/>
                </a:moveTo>
                <a:lnTo>
                  <a:pt x="471550" y="28575"/>
                </a:lnTo>
                <a:lnTo>
                  <a:pt x="471550" y="57150"/>
                </a:lnTo>
                <a:lnTo>
                  <a:pt x="585851" y="57150"/>
                </a:lnTo>
                <a:lnTo>
                  <a:pt x="585851" y="28575"/>
                </a:lnTo>
                <a:close/>
              </a:path>
              <a:path extrusionOk="0" h="85725" w="1052195">
                <a:moveTo>
                  <a:pt x="785876" y="28575"/>
                </a:moveTo>
                <a:lnTo>
                  <a:pt x="671576" y="28575"/>
                </a:lnTo>
                <a:lnTo>
                  <a:pt x="671576" y="57150"/>
                </a:lnTo>
                <a:lnTo>
                  <a:pt x="785876" y="57150"/>
                </a:lnTo>
                <a:lnTo>
                  <a:pt x="785876" y="28575"/>
                </a:lnTo>
                <a:close/>
              </a:path>
              <a:path extrusionOk="0" h="85725" w="1052195">
                <a:moveTo>
                  <a:pt x="966343" y="0"/>
                </a:moveTo>
                <a:lnTo>
                  <a:pt x="966343" y="85725"/>
                </a:lnTo>
                <a:lnTo>
                  <a:pt x="1023408" y="57150"/>
                </a:lnTo>
                <a:lnTo>
                  <a:pt x="980694" y="57150"/>
                </a:lnTo>
                <a:lnTo>
                  <a:pt x="980694" y="28575"/>
                </a:lnTo>
                <a:lnTo>
                  <a:pt x="1023577" y="28575"/>
                </a:lnTo>
                <a:lnTo>
                  <a:pt x="966343" y="0"/>
                </a:lnTo>
                <a:close/>
              </a:path>
              <a:path extrusionOk="0" h="85725" w="1052195">
                <a:moveTo>
                  <a:pt x="966343" y="28575"/>
                </a:moveTo>
                <a:lnTo>
                  <a:pt x="871601" y="28575"/>
                </a:lnTo>
                <a:lnTo>
                  <a:pt x="871601" y="57150"/>
                </a:lnTo>
                <a:lnTo>
                  <a:pt x="966343" y="57150"/>
                </a:lnTo>
                <a:lnTo>
                  <a:pt x="966343" y="28575"/>
                </a:lnTo>
                <a:close/>
              </a:path>
              <a:path extrusionOk="0" h="85725" w="1052195">
                <a:moveTo>
                  <a:pt x="1023577" y="28575"/>
                </a:moveTo>
                <a:lnTo>
                  <a:pt x="980694" y="28575"/>
                </a:lnTo>
                <a:lnTo>
                  <a:pt x="980694" y="57150"/>
                </a:lnTo>
                <a:lnTo>
                  <a:pt x="1023408" y="57150"/>
                </a:lnTo>
                <a:lnTo>
                  <a:pt x="1052068" y="42799"/>
                </a:lnTo>
                <a:lnTo>
                  <a:pt x="1023577" y="28575"/>
                </a:lnTo>
                <a:close/>
              </a:path>
            </a:pathLst>
          </a:custGeom>
          <a:solidFill>
            <a:srgbClr val="44536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5"/>
          <p:cNvSpPr txBox="1"/>
          <p:nvPr/>
        </p:nvSpPr>
        <p:spPr>
          <a:xfrm>
            <a:off x="1022699" y="1643000"/>
            <a:ext cx="32418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Database: customer_churn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86" name="Google Shape;86;p6"/>
          <p:cNvSpPr txBox="1"/>
          <p:nvPr>
            <p:ph type="title"/>
          </p:nvPr>
        </p:nvSpPr>
        <p:spPr>
          <a:xfrm>
            <a:off x="916952" y="609675"/>
            <a:ext cx="4833600" cy="6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Calculated Metrics</a:t>
            </a:r>
            <a:endParaRPr/>
          </a:p>
        </p:txBody>
      </p:sp>
      <p:graphicFrame>
        <p:nvGraphicFramePr>
          <p:cNvPr id="87" name="Google Shape;87;p6"/>
          <p:cNvGraphicFramePr/>
          <p:nvPr/>
        </p:nvGraphicFramePr>
        <p:xfrm>
          <a:off x="831850" y="150469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{6D8AB216-FEF0-442D-9C2B-210B28296958}</a:tableStyleId>
              </a:tblPr>
              <a:tblGrid>
                <a:gridCol w="3477250"/>
                <a:gridCol w="6106800"/>
              </a:tblGrid>
              <a:tr h="216525">
                <a:tc>
                  <a:txBody>
                    <a:bodyPr/>
                    <a:lstStyle/>
                    <a:p>
                      <a:pPr indent="0" lvl="0" marL="3175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KPI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381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Formula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2575">
                <a:tc>
                  <a:txBody>
                    <a:bodyPr/>
                    <a:lstStyle/>
                    <a:p>
                      <a:pPr indent="0" lvl="0" marL="3175" marR="0" rtl="0" algn="l">
                        <a:lnSpc>
                          <a:spcPct val="1182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churn rate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905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3810" marR="0" rtl="0" algn="l">
                        <a:lnSpc>
                          <a:spcPct val="1182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churned customer / total customers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905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19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3175" marR="0" rtl="0" algn="l">
                        <a:lnSpc>
                          <a:spcPct val="1182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Churn by plan type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460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3810" marR="0" rtl="0" algn="l">
                        <a:lnSpc>
                          <a:spcPct val="1182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churn rate GROUP BY plan_type (Basic/Standard/Premium)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460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2575">
                <a:tc>
                  <a:txBody>
                    <a:bodyPr/>
                    <a:lstStyle/>
                    <a:p>
                      <a:pPr indent="0" lvl="0" marL="3175" marR="0" rtl="0" algn="l">
                        <a:lnSpc>
                          <a:spcPct val="1182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Churn by state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970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3810" marR="0" rtl="0" algn="l">
                        <a:lnSpc>
                          <a:spcPct val="1182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churn rate GROUP BY country, state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970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6525">
                <a:tc>
                  <a:txBody>
                    <a:bodyPr/>
                    <a:lstStyle/>
                    <a:p>
                      <a:pPr indent="0" lvl="0" marL="3175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Retention rate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381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1-churn rate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19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3175" marR="0" rtl="0" algn="l">
                        <a:lnSpc>
                          <a:spcPct val="1182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ARPU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3462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3810" marR="0" rtl="0" algn="l">
                        <a:lnSpc>
                          <a:spcPct val="1182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SUM(monthly_charges) / COUNT(active customerid)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3462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1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7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3175" marR="0" rtl="0" algn="l">
                        <a:lnSpc>
                          <a:spcPct val="118214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Average customer tenure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7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3810" marR="0" rtl="0" algn="l">
                        <a:lnSpc>
                          <a:spcPct val="118214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AVG(DATEDIFF(cancellation_date OR NOW(), subscription_start_date))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19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3175" marR="0" rtl="0" algn="l">
                        <a:lnSpc>
                          <a:spcPct val="118214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Revenue at risk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460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3810" marR="0" rtl="0" algn="l">
                        <a:lnSpc>
                          <a:spcPct val="118214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SUM(monthly_charges) WHERE churn_score &gt; 70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460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1950">
                <a:tc>
                  <a:txBody>
                    <a:bodyPr/>
                    <a:lstStyle/>
                    <a:p>
                      <a:pPr indent="0" lvl="0" marL="3175" marR="0" rtl="0" algn="l">
                        <a:lnSpc>
                          <a:spcPct val="117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Escalation rate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7970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3810" marR="0" rtl="0" algn="l">
                        <a:lnSpc>
                          <a:spcPct val="117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SUM(escalations) / COUNT(complaints) × 100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7970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19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3175" marR="0" rtl="0" algn="l">
                        <a:lnSpc>
                          <a:spcPct val="117857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Avg complaints per customer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3462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3810" marR="0" rtl="0" algn="l">
                        <a:lnSpc>
                          <a:spcPct val="117857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COUNT(complaints) / COUNT(DISTINCT customerid)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3462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2575">
                <a:tc>
                  <a:txBody>
                    <a:bodyPr/>
                    <a:lstStyle/>
                    <a:p>
                      <a:pPr indent="0" lvl="0" marL="3175" marR="0" rtl="0" algn="l">
                        <a:lnSpc>
                          <a:spcPct val="117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Correlation: escalations → churn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032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3810" marR="0" rtl="0" algn="l">
                        <a:lnSpc>
                          <a:spcPct val="117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churn rate WHERE escalations ≥ 1 vs 0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032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92" name="Google Shape;92;p7"/>
          <p:cNvSpPr txBox="1"/>
          <p:nvPr>
            <p:ph type="title"/>
          </p:nvPr>
        </p:nvSpPr>
        <p:spPr>
          <a:xfrm>
            <a:off x="916939" y="609676"/>
            <a:ext cx="6320155" cy="697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Insights</a:t>
            </a:r>
            <a:endParaRPr/>
          </a:p>
        </p:txBody>
      </p:sp>
      <p:sp>
        <p:nvSpPr>
          <p:cNvPr id="93" name="Google Shape;93;p7"/>
          <p:cNvSpPr txBox="1"/>
          <p:nvPr/>
        </p:nvSpPr>
        <p:spPr>
          <a:xfrm>
            <a:off x="916950" y="1468025"/>
            <a:ext cx="10200000" cy="45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60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latin typeface="Calibri"/>
                <a:ea typeface="Calibri"/>
                <a:cs typeface="Calibri"/>
                <a:sym typeface="Calibri"/>
              </a:rPr>
              <a:t>Insights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41300" rtl="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SzPts val="1600"/>
              <a:buFont typeface="Arial"/>
              <a:buChar char="•"/>
            </a:pPr>
            <a:r>
              <a:rPr lang="en-US" sz="1600">
                <a:latin typeface="Calibri"/>
                <a:ea typeface="Calibri"/>
                <a:cs typeface="Calibri"/>
                <a:sym typeface="Calibri"/>
              </a:rPr>
              <a:t>Churn Rate: 28.6%	| Retention Rate: 71.4%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41300" rtl="0" algn="l">
              <a:lnSpc>
                <a:spcPct val="100000"/>
              </a:lnSpc>
              <a:spcBef>
                <a:spcPts val="434"/>
              </a:spcBef>
              <a:spcAft>
                <a:spcPts val="0"/>
              </a:spcAft>
              <a:buSzPts val="1600"/>
              <a:buFont typeface="Arial"/>
              <a:buChar char="•"/>
            </a:pPr>
            <a:r>
              <a:rPr lang="en-US" sz="1600">
                <a:latin typeface="Calibri"/>
                <a:ea typeface="Calibri"/>
                <a:cs typeface="Calibri"/>
                <a:sym typeface="Calibri"/>
              </a:rPr>
              <a:t>Most of the churn is from basic subscription plan – nothing to worry in terms of major revenue impact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41300" rtl="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SzPts val="1600"/>
              <a:buFont typeface="Arial"/>
              <a:buChar char="•"/>
            </a:pPr>
            <a:r>
              <a:rPr lang="en-US" sz="1600">
                <a:latin typeface="Calibri"/>
                <a:ea typeface="Calibri"/>
                <a:cs typeface="Calibri"/>
                <a:sym typeface="Calibri"/>
              </a:rPr>
              <a:t>Most of the churn happened in the month of Sep 2024 and, most affected state is Karnataka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41300" rtl="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SzPts val="1600"/>
              <a:buFont typeface="Arial"/>
              <a:buChar char="•"/>
            </a:pPr>
            <a:r>
              <a:rPr lang="en-US" sz="1600">
                <a:latin typeface="Calibri"/>
                <a:ea typeface="Calibri"/>
                <a:cs typeface="Calibri"/>
                <a:sym typeface="Calibri"/>
              </a:rPr>
              <a:t>Average Tenure (Days): 1,451 | ARPU is Rs 18.8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41300" rtl="0" algn="l">
              <a:lnSpc>
                <a:spcPct val="100000"/>
              </a:lnSpc>
              <a:spcBef>
                <a:spcPts val="430"/>
              </a:spcBef>
              <a:spcAft>
                <a:spcPts val="0"/>
              </a:spcAft>
              <a:buSzPts val="1600"/>
              <a:buFont typeface="Arial"/>
              <a:buChar char="•"/>
            </a:pPr>
            <a:r>
              <a:rPr lang="en-US" sz="1600">
                <a:latin typeface="Calibri"/>
                <a:ea typeface="Calibri"/>
                <a:cs typeface="Calibri"/>
                <a:sym typeface="Calibri"/>
              </a:rPr>
              <a:t>Total Revenue = 395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41300" rtl="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SzPts val="1600"/>
              <a:buFont typeface="Arial"/>
              <a:buChar char="•"/>
            </a:pPr>
            <a:r>
              <a:rPr lang="en-US" sz="1600">
                <a:latin typeface="Calibri"/>
                <a:ea typeface="Calibri"/>
                <a:cs typeface="Calibri"/>
                <a:sym typeface="Calibri"/>
              </a:rPr>
              <a:t>Revenue loss due to churn = 74 | CLTV Lost = 2,047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41300" rtl="0" algn="l">
              <a:lnSpc>
                <a:spcPct val="100000"/>
              </a:lnSpc>
              <a:spcBef>
                <a:spcPts val="425"/>
              </a:spcBef>
              <a:spcAft>
                <a:spcPts val="0"/>
              </a:spcAft>
              <a:buSzPts val="1600"/>
              <a:buFont typeface="Arial"/>
              <a:buChar char="•"/>
            </a:pPr>
            <a:r>
              <a:rPr lang="en-US" sz="1600">
                <a:latin typeface="Calibri"/>
                <a:ea typeface="Calibri"/>
                <a:cs typeface="Calibri"/>
                <a:sym typeface="Calibri"/>
              </a:rPr>
              <a:t>% Revenue loss = 18%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41300" rtl="0" algn="l">
              <a:lnSpc>
                <a:spcPct val="100000"/>
              </a:lnSpc>
              <a:spcBef>
                <a:spcPts val="430"/>
              </a:spcBef>
              <a:spcAft>
                <a:spcPts val="0"/>
              </a:spcAft>
              <a:buSzPts val="1600"/>
              <a:buFont typeface="Arial"/>
              <a:buChar char="•"/>
            </a:pPr>
            <a:r>
              <a:rPr lang="en-US" sz="1600">
                <a:latin typeface="Calibri"/>
                <a:ea typeface="Calibri"/>
                <a:cs typeface="Calibri"/>
                <a:sym typeface="Calibri"/>
              </a:rPr>
              <a:t>monthly vs annual churn = 55.6% vs 8.3%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1835"/>
              </a:spcBef>
              <a:spcAft>
                <a:spcPts val="0"/>
              </a:spcAft>
              <a:buNone/>
            </a:pPr>
            <a:r>
              <a:rPr b="1" lang="en-US" sz="1600">
                <a:latin typeface="Calibri"/>
                <a:ea typeface="Calibri"/>
                <a:cs typeface="Calibri"/>
                <a:sym typeface="Calibri"/>
              </a:rPr>
              <a:t>Action Items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41300" rtl="0" algn="l">
              <a:lnSpc>
                <a:spcPct val="100000"/>
              </a:lnSpc>
              <a:spcBef>
                <a:spcPts val="434"/>
              </a:spcBef>
              <a:spcAft>
                <a:spcPts val="0"/>
              </a:spcAft>
              <a:buSzPts val="1600"/>
              <a:buFont typeface="Arial"/>
              <a:buChar char="•"/>
            </a:pPr>
            <a:r>
              <a:rPr lang="en-US" sz="1600">
                <a:latin typeface="Calibri"/>
                <a:ea typeface="Calibri"/>
                <a:cs typeface="Calibri"/>
                <a:sym typeface="Calibri"/>
              </a:rPr>
              <a:t>Check what happened in Karnataka – was there any increase in price, user complaints, tech issues, etc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41300" rtl="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SzPts val="1600"/>
              <a:buFont typeface="Arial"/>
              <a:buChar char="•"/>
            </a:pPr>
            <a:r>
              <a:rPr lang="en-US" sz="1600">
                <a:latin typeface="Calibri"/>
                <a:ea typeface="Calibri"/>
                <a:cs typeface="Calibri"/>
                <a:sym typeface="Calibri"/>
              </a:rPr>
              <a:t>Did we increased subs price for </a:t>
            </a:r>
            <a:r>
              <a:rPr b="1" lang="en-US" sz="1600">
                <a:latin typeface="Calibri"/>
                <a:ea typeface="Calibri"/>
                <a:cs typeface="Calibri"/>
                <a:sym typeface="Calibri"/>
              </a:rPr>
              <a:t>Basic plan </a:t>
            </a:r>
            <a:r>
              <a:rPr lang="en-US" sz="1600">
                <a:latin typeface="Calibri"/>
                <a:ea typeface="Calibri"/>
                <a:cs typeface="Calibri"/>
                <a:sym typeface="Calibri"/>
              </a:rPr>
              <a:t>or recently made any changes – specially in sep month?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41300" rtl="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SzPts val="1600"/>
              <a:buFont typeface="Arial"/>
              <a:buChar char="•"/>
            </a:pPr>
            <a:r>
              <a:rPr lang="en-US" sz="1600">
                <a:latin typeface="Calibri"/>
                <a:ea typeface="Calibri"/>
                <a:cs typeface="Calibri"/>
                <a:sym typeface="Calibri"/>
              </a:rPr>
              <a:t>Check what competitor is doing – bcoz one user has moved to competitor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-229235" lvl="0" marL="241300" marR="5080" rtl="0" algn="l">
              <a:lnSpc>
                <a:spcPct val="70000"/>
              </a:lnSpc>
              <a:spcBef>
                <a:spcPts val="1010"/>
              </a:spcBef>
              <a:spcAft>
                <a:spcPts val="0"/>
              </a:spcAft>
              <a:buSzPts val="1600"/>
              <a:buFont typeface="Arial"/>
              <a:buChar char="•"/>
            </a:pPr>
            <a:r>
              <a:rPr lang="en-US" sz="1600">
                <a:latin typeface="Calibri"/>
                <a:ea typeface="Calibri"/>
                <a:cs typeface="Calibri"/>
                <a:sym typeface="Calibri"/>
              </a:rPr>
              <a:t>Focus on customers with ‘High’ &amp; ‘Med’ churn risk, check their LTV (to make priority list), complaint request, reach out to them through email, sms, calls and fix their issue.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462C1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2026-08-15T23:59:02Z</dcterms:created>
  <dc:creator>Rishabh Mishra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2026-07-05T00:00:00Z</vt:filetime>
  </property>
  <property fmtid="{D5CDD505-2E9C-101B-9397-08002B2CF9AE}" pid="4" name="Creator">
    <vt:lpwstr>Microsoft® PowerPoint® 2021</vt:lpwstr>
  </property>
  <property fmtid="{D5CDD505-2E9C-101B-9397-08002B2CF9AE}" pid="5" name="LastSaved">
    <vt:filetime>2026-08-15T00:00:00Z</vt:filetime>
  </property>
  <property fmtid="{D5CDD505-2E9C-101B-9397-08002B2CF9AE}" pid="6" name="Producer">
    <vt:lpwstr>Microsoft® PowerPoint® 2021</vt:lpwstr>
  </property>
</Properties>
</file>